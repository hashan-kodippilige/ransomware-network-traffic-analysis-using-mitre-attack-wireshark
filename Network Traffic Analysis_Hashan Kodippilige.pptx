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80" r:id="rId5"/>
    <p:sldId id="283" r:id="rId6"/>
    <p:sldId id="281" r:id="rId7"/>
    <p:sldId id="284" r:id="rId8"/>
    <p:sldId id="285" r:id="rId9"/>
    <p:sldId id="286" r:id="rId10"/>
    <p:sldId id="291" r:id="rId11"/>
    <p:sldId id="287" r:id="rId12"/>
    <p:sldId id="288" r:id="rId13"/>
    <p:sldId id="289" r:id="rId14"/>
    <p:sldId id="290" r:id="rId15"/>
    <p:sldId id="292" r:id="rId16"/>
    <p:sldId id="293" r:id="rId17"/>
    <p:sldId id="294" r:id="rId18"/>
    <p:sldId id="295" r:id="rId19"/>
    <p:sldId id="298" r:id="rId20"/>
    <p:sldId id="297" r:id="rId21"/>
    <p:sldId id="282" r:id="rId22"/>
    <p:sldId id="296" r:id="rId23"/>
  </p:sldIdLst>
  <p:sldSz cx="9144000" cy="5143500" type="screen16x9"/>
  <p:notesSz cx="6858000" cy="9144000"/>
  <p:embeddedFontLst>
    <p:embeddedFont>
      <p:font typeface="Source Sans Pro" panose="020B0503030403020204" pitchFamily="34" charset="0"/>
      <p:regular r:id="rId26"/>
      <p:bold r:id="rId27"/>
      <p:italic r:id="rId28"/>
      <p:boldItalic r:id="rId29"/>
    </p:embeddedFont>
    <p:embeddedFont>
      <p:font typeface="Source Sans Pro Black" panose="020B0803030403020204" pitchFamily="34" charset="0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8362"/>
    <a:srgbClr val="DAA774"/>
    <a:srgbClr val="C8102E"/>
    <a:srgbClr val="AD041B"/>
    <a:srgbClr val="564E48"/>
    <a:srgbClr val="99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7" autoAdjust="0"/>
    <p:restoredTop sz="96327" autoAdjust="0"/>
  </p:normalViewPr>
  <p:slideViewPr>
    <p:cSldViewPr snapToGrid="0" snapToObjects="1">
      <p:cViewPr varScale="1">
        <p:scale>
          <a:sx n="114" d="100"/>
          <a:sy n="114" d="100"/>
        </p:scale>
        <p:origin x="555" y="57"/>
      </p:cViewPr>
      <p:guideLst>
        <p:guide orient="horz" pos="162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6" d="100"/>
          <a:sy n="126" d="100"/>
        </p:scale>
        <p:origin x="-4360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81097-A0BD-924D-92BC-FDB4B67CEEC0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FF38A-7469-9B4E-993E-015FCAB63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45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C2719-43FE-644A-B626-6753B45FA92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FC8EE-C86E-AF45-BC7E-F39CAB297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6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8360" y="1597819"/>
            <a:ext cx="7086600" cy="1102519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  <a:latin typeface="Source Sans Pro Black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836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D4208-97B8-4E27-975A-C71F64EAC1F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Source Sans Pro Black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CAFE-4F37-426B-83F0-9A65FB0B3FE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2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360" y="3305176"/>
            <a:ext cx="7073553" cy="1021556"/>
          </a:xfrm>
        </p:spPr>
        <p:txBody>
          <a:bodyPr anchor="t"/>
          <a:lstStyle>
            <a:lvl1pPr algn="l">
              <a:defRPr sz="4000" b="0" i="0" cap="all" baseline="0">
                <a:latin typeface="Source Sans Pro Black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8360" y="2180035"/>
            <a:ext cx="7073553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2F8-FDB4-4082-A7D3-F5BC3AF9717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9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Source Sans Pro Black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8361" y="1200150"/>
            <a:ext cx="3205174" cy="31085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2451" y="1200150"/>
            <a:ext cx="3176067" cy="31085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35F80-1249-4EED-A6BD-6553D66E0301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08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8360" y="1151335"/>
            <a:ext cx="3226412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8360" y="1631157"/>
            <a:ext cx="3226412" cy="26888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05129" y="1151335"/>
            <a:ext cx="3341647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05129" y="1631157"/>
            <a:ext cx="3341647" cy="26888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B8B3F-E0B5-4322-8163-6EBBEF0749A9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D4E28-D687-4958-8119-C934640FBD78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0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BFF5-E13F-4A7C-A2A3-07D79F08E21C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2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360" y="204787"/>
            <a:ext cx="2566548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416" y="204788"/>
            <a:ext cx="4364396" cy="403587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360" y="1076325"/>
            <a:ext cx="2566548" cy="31643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69A65-E049-4839-BBD2-9BDC3508410D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5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277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9CF5-F8FA-40CA-9FCA-5A0FC3836AFA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5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1F1B-8F42-4507-B463-06CB8949E5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2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96D68-03CA-4BB7-B2FF-F7FF9C68467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27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0F-9AE3-48B2-BDE3-7F3AD89A6FB4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25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73E86-2E8F-4C57-89C5-11E2239B25D9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2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8361" y="205979"/>
            <a:ext cx="688015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8360" y="1200151"/>
            <a:ext cx="6880158" cy="3080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8360" y="4504113"/>
            <a:ext cx="11696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656A9-78FE-4FB4-982C-C7DACF18A9B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9048" y="4504113"/>
            <a:ext cx="18444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63230" y="4508494"/>
            <a:ext cx="8704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284F5-A660-814B-AF99-F125251820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7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8" r:id="rId12"/>
    <p:sldLayoutId id="2147483659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b="0" i="0" kern="1200" baseline="0">
          <a:solidFill>
            <a:schemeClr val="tx2"/>
          </a:solidFill>
          <a:latin typeface="Source Sans Pro Black" panose="020B0503030403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is.org/programs/strategic-technologies-program/significant-cyber-incident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361" y="213360"/>
            <a:ext cx="6880157" cy="263144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 </a:t>
            </a:r>
            <a:r>
              <a:rPr lang="en-US" b="1" dirty="0"/>
              <a:t>Network Traffic Analysis of Ransomware Activity in the Healthcare Sector Using Wireshark and MITRE ATT&amp;CK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7720" y="2148840"/>
            <a:ext cx="6880158" cy="288544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sz="3000" dirty="0"/>
          </a:p>
          <a:p>
            <a:pPr marL="0" indent="0" algn="ctr">
              <a:buNone/>
            </a:pPr>
            <a:endParaRPr lang="en-US" sz="3000" dirty="0"/>
          </a:p>
          <a:p>
            <a:pPr marL="0" indent="0" algn="ctr">
              <a:buNone/>
            </a:pPr>
            <a:r>
              <a:rPr lang="en-US" dirty="0"/>
              <a:t>K.H.S. Kodippilige, A. </a:t>
            </a:r>
            <a:r>
              <a:rPr lang="en-US" dirty="0" err="1"/>
              <a:t>Nwaigwe</a:t>
            </a:r>
            <a:r>
              <a:rPr lang="en-US" dirty="0"/>
              <a:t> </a:t>
            </a:r>
            <a:endParaRPr lang="en-US" sz="3000" dirty="0"/>
          </a:p>
          <a:p>
            <a:pPr marL="0" indent="0" algn="ctr">
              <a:spcBef>
                <a:spcPts val="2400"/>
              </a:spcBef>
              <a:buNone/>
            </a:pPr>
            <a:r>
              <a:rPr lang="en-US" sz="2400" dirty="0"/>
              <a:t>Department of Computer Science</a:t>
            </a:r>
            <a:br>
              <a:rPr lang="en-US" dirty="0"/>
            </a:br>
            <a:r>
              <a:rPr lang="en-US" sz="2000" dirty="0"/>
              <a:t>Minnesota State University Moorhead</a:t>
            </a:r>
            <a:br>
              <a:rPr lang="en-US" sz="2000" dirty="0"/>
            </a:br>
            <a:r>
              <a:rPr lang="en-US" sz="2000" dirty="0"/>
              <a:t>1104 7</a:t>
            </a:r>
            <a:r>
              <a:rPr lang="en-US" sz="2000" baseline="30000" dirty="0"/>
              <a:t>th</a:t>
            </a:r>
            <a:r>
              <a:rPr lang="en-US" sz="2000" dirty="0"/>
              <a:t> Avenue South</a:t>
            </a:r>
            <a:br>
              <a:rPr lang="en-US" sz="2000" dirty="0"/>
            </a:br>
            <a:r>
              <a:rPr lang="en-US" sz="2000" dirty="0"/>
              <a:t>Moorhead, MN 56563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79D82-C6B4-8014-BBF9-3AE1C45F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284F5-A660-814B-AF99-F125251820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4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174B-415D-860C-603E-6A47F440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0F1E-79C7-C8B1-A47E-176FDA6D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281" y="226299"/>
            <a:ext cx="6880157" cy="857250"/>
          </a:xfrm>
        </p:spPr>
        <p:txBody>
          <a:bodyPr/>
          <a:lstStyle/>
          <a:p>
            <a:r>
              <a:rPr lang="en-US" dirty="0"/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E7BE-6B8A-242A-48E4-5741EFFAB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191262"/>
            <a:ext cx="7265640" cy="3080195"/>
          </a:xfrm>
        </p:spPr>
        <p:txBody>
          <a:bodyPr>
            <a:normAutofit/>
          </a:bodyPr>
          <a:lstStyle/>
          <a:p>
            <a:r>
              <a:rPr lang="en-US" dirty="0"/>
              <a:t>Rising ransomware in healthcare</a:t>
            </a:r>
          </a:p>
          <a:p>
            <a:r>
              <a:rPr lang="en-US" dirty="0"/>
              <a:t>Financial losses exceed $206 Million globally (2024)</a:t>
            </a:r>
          </a:p>
          <a:p>
            <a:r>
              <a:rPr lang="en-US" dirty="0"/>
              <a:t>High-value sensitive data</a:t>
            </a:r>
          </a:p>
          <a:p>
            <a:r>
              <a:rPr lang="en-US" dirty="0"/>
              <a:t>Need better detection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F4557-64FE-2B8E-2124-9617DD65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311" y="4732014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52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80EE-2582-4236-9BF4-B75C12E5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Objective of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8033-5219-A60E-A3CC-5D6BCD479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1" y="1200151"/>
            <a:ext cx="7123400" cy="3080195"/>
          </a:xfrm>
        </p:spPr>
        <p:txBody>
          <a:bodyPr/>
          <a:lstStyle/>
          <a:p>
            <a:pPr algn="just"/>
            <a:r>
              <a:rPr lang="en-US" dirty="0"/>
              <a:t>Identify ransomware behavior through network traffic analysis</a:t>
            </a:r>
          </a:p>
          <a:p>
            <a:pPr algn="just"/>
            <a:r>
              <a:rPr lang="en-US" dirty="0"/>
              <a:t>Use Wireshark (</a:t>
            </a:r>
            <a:r>
              <a:rPr lang="en-US" dirty="0" err="1"/>
              <a:t>pcap</a:t>
            </a:r>
            <a:r>
              <a:rPr lang="en-US" dirty="0"/>
              <a:t> analysis)</a:t>
            </a:r>
          </a:p>
          <a:p>
            <a:pPr algn="just"/>
            <a:r>
              <a:rPr lang="en-US" dirty="0"/>
              <a:t>Map findings to MITRE ATT&amp;CK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6D3C6-1E91-B9FE-21F7-3A6A35CC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4991" y="4737094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7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6562-8E2D-2E52-24BA-3A32B664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1B7A-0E38-BC37-394F-56854E05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Dataset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E2A4-777E-368C-08CC-3F608C8EC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7062440" cy="3432809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Analyzed packet capture (.</a:t>
            </a:r>
            <a:r>
              <a:rPr lang="en-US" dirty="0" err="1"/>
              <a:t>pcap</a:t>
            </a:r>
            <a:r>
              <a:rPr lang="en-US" dirty="0"/>
              <a:t>) dataset </a:t>
            </a:r>
          </a:p>
          <a:p>
            <a:pPr algn="just"/>
            <a:r>
              <a:rPr lang="en-US" dirty="0"/>
              <a:t>Tools</a:t>
            </a:r>
          </a:p>
          <a:p>
            <a:pPr lvl="1" algn="just"/>
            <a:r>
              <a:rPr lang="en-US" dirty="0"/>
              <a:t>Wireshark</a:t>
            </a:r>
          </a:p>
          <a:p>
            <a:pPr lvl="1" algn="just"/>
            <a:r>
              <a:rPr lang="en-US" dirty="0"/>
              <a:t>MITRE ATT&amp;CK framework</a:t>
            </a:r>
          </a:p>
          <a:p>
            <a:pPr algn="just"/>
            <a:r>
              <a:rPr lang="en-US" dirty="0"/>
              <a:t>Focus</a:t>
            </a:r>
          </a:p>
          <a:p>
            <a:pPr lvl="1" algn="just"/>
            <a:r>
              <a:rPr lang="en-US" dirty="0"/>
              <a:t>Identify Indicators of Compromise (</a:t>
            </a:r>
            <a:r>
              <a:rPr lang="en-US" dirty="0" err="1"/>
              <a:t>IoCs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3A966-F759-085C-ABDC-EFA4F152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6856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4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3474-6CF8-66B7-48E9-D1B57B58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EBAF-6299-1568-4CE4-DE998CB8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MITRE ATT&amp;CK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6B7DFA-D74E-D55F-408B-C96D241BE976}"/>
              </a:ext>
            </a:extLst>
          </p:cNvPr>
          <p:cNvSpPr/>
          <p:nvPr/>
        </p:nvSpPr>
        <p:spPr>
          <a:xfrm>
            <a:off x="3120360" y="1290320"/>
            <a:ext cx="2905760" cy="4368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Reconnaissance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072DD3-29FA-15E6-443B-2E7E6C005073}"/>
              </a:ext>
            </a:extLst>
          </p:cNvPr>
          <p:cNvSpPr/>
          <p:nvPr/>
        </p:nvSpPr>
        <p:spPr>
          <a:xfrm>
            <a:off x="3120360" y="2045798"/>
            <a:ext cx="2905760" cy="4368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Initial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50B22-9B20-9D5B-DCAD-33FC52A8D529}"/>
              </a:ext>
            </a:extLst>
          </p:cNvPr>
          <p:cNvSpPr/>
          <p:nvPr/>
        </p:nvSpPr>
        <p:spPr>
          <a:xfrm>
            <a:off x="3120360" y="2799114"/>
            <a:ext cx="2905760" cy="4368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Credential Access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F38BA-14FC-DE88-4236-229CC320CB6C}"/>
              </a:ext>
            </a:extLst>
          </p:cNvPr>
          <p:cNvSpPr/>
          <p:nvPr/>
        </p:nvSpPr>
        <p:spPr>
          <a:xfrm>
            <a:off x="3120360" y="3564066"/>
            <a:ext cx="2905760" cy="4368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Privilege Escalation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E0D769-FB06-5600-0720-249518E96BC8}"/>
              </a:ext>
            </a:extLst>
          </p:cNvPr>
          <p:cNvSpPr/>
          <p:nvPr/>
        </p:nvSpPr>
        <p:spPr>
          <a:xfrm>
            <a:off x="3120360" y="4329018"/>
            <a:ext cx="2905760" cy="4368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Exfiltration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0BE315-2CE4-0649-F198-0D839A0A9C5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573240" y="1727200"/>
            <a:ext cx="0" cy="31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DAAB46-AFB7-4290-07B8-F602F5C278E3}"/>
              </a:ext>
            </a:extLst>
          </p:cNvPr>
          <p:cNvCxnSpPr/>
          <p:nvPr/>
        </p:nvCxnSpPr>
        <p:spPr>
          <a:xfrm>
            <a:off x="4573240" y="2490470"/>
            <a:ext cx="0" cy="31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7704BF-F39C-433B-BDDA-86BC70C81F0D}"/>
              </a:ext>
            </a:extLst>
          </p:cNvPr>
          <p:cNvCxnSpPr/>
          <p:nvPr/>
        </p:nvCxnSpPr>
        <p:spPr>
          <a:xfrm>
            <a:off x="4573240" y="3245468"/>
            <a:ext cx="0" cy="31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2215AC-4219-F377-DDFE-79413B36DD31}"/>
              </a:ext>
            </a:extLst>
          </p:cNvPr>
          <p:cNvCxnSpPr/>
          <p:nvPr/>
        </p:nvCxnSpPr>
        <p:spPr>
          <a:xfrm>
            <a:off x="4573240" y="4000260"/>
            <a:ext cx="0" cy="318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543DE-1673-3245-CA86-318D5054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4991" y="4735418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4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90F37-640A-C516-4975-359D5929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324B-0DCB-EA4C-2B1D-3B6AC737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Attack Scenario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F48E4-9610-59DE-E203-F0402669C154}"/>
              </a:ext>
            </a:extLst>
          </p:cNvPr>
          <p:cNvSpPr/>
          <p:nvPr/>
        </p:nvSpPr>
        <p:spPr>
          <a:xfrm>
            <a:off x="1725961" y="1403351"/>
            <a:ext cx="2174240" cy="58083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Phishing </a:t>
            </a:r>
          </a:p>
          <a:p>
            <a:pPr algn="ctr"/>
            <a:r>
              <a:rPr lang="en-US" dirty="0"/>
              <a:t>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5A7B3-6D15-0861-050E-A04E57AFBD61}"/>
              </a:ext>
            </a:extLst>
          </p:cNvPr>
          <p:cNvSpPr/>
          <p:nvPr/>
        </p:nvSpPr>
        <p:spPr>
          <a:xfrm>
            <a:off x="4236722" y="1403351"/>
            <a:ext cx="2174240" cy="58083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FTP login </a:t>
            </a:r>
          </a:p>
          <a:p>
            <a:pPr algn="ctr"/>
            <a:r>
              <a:rPr lang="en-US" dirty="0"/>
              <a:t>🔐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8B51E-748B-3459-8D6E-25954D810D09}"/>
              </a:ext>
            </a:extLst>
          </p:cNvPr>
          <p:cNvSpPr/>
          <p:nvPr/>
        </p:nvSpPr>
        <p:spPr>
          <a:xfrm>
            <a:off x="6746861" y="1403350"/>
            <a:ext cx="2174240" cy="580837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lateral movement </a:t>
            </a:r>
            <a:r>
              <a:rPr lang="en-US" dirty="0"/>
              <a:t>🌐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7B045-78FB-BD0F-7F79-8ED8B6CCC768}"/>
              </a:ext>
            </a:extLst>
          </p:cNvPr>
          <p:cNvSpPr/>
          <p:nvPr/>
        </p:nvSpPr>
        <p:spPr>
          <a:xfrm>
            <a:off x="5313682" y="2677572"/>
            <a:ext cx="2174240" cy="58083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C2 </a:t>
            </a:r>
            <a:r>
              <a:rPr lang="en-US" dirty="0"/>
              <a:t>☁️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(Command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&amp; Control)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217CF-81A6-596F-87FB-F598863AABB0}"/>
              </a:ext>
            </a:extLst>
          </p:cNvPr>
          <p:cNvSpPr/>
          <p:nvPr/>
        </p:nvSpPr>
        <p:spPr>
          <a:xfrm>
            <a:off x="2823241" y="2677572"/>
            <a:ext cx="2174240" cy="58083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Exfiltration</a:t>
            </a:r>
          </a:p>
          <a:p>
            <a:pPr algn="ctr"/>
            <a:r>
              <a:rPr lang="en-US" dirty="0"/>
              <a:t>📤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EFE89A-52ED-AF68-EAA6-928B0C7BB9E3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900201" y="1693769"/>
            <a:ext cx="3365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376AF1-9888-AA22-1C41-DDEEC2696E37}"/>
              </a:ext>
            </a:extLst>
          </p:cNvPr>
          <p:cNvCxnSpPr/>
          <p:nvPr/>
        </p:nvCxnSpPr>
        <p:spPr>
          <a:xfrm flipV="1">
            <a:off x="6410962" y="1693770"/>
            <a:ext cx="3365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373CB8-5B54-D18C-B2A6-8F80C7883DBE}"/>
              </a:ext>
            </a:extLst>
          </p:cNvPr>
          <p:cNvCxnSpPr>
            <a:cxnSpLocks/>
          </p:cNvCxnSpPr>
          <p:nvPr/>
        </p:nvCxnSpPr>
        <p:spPr>
          <a:xfrm flipH="1">
            <a:off x="4996540" y="2967990"/>
            <a:ext cx="3206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FBC4D8-0C81-6AE5-C304-459A2ADC4EB5}"/>
              </a:ext>
            </a:extLst>
          </p:cNvPr>
          <p:cNvCxnSpPr>
            <a:cxnSpLocks/>
          </p:cNvCxnSpPr>
          <p:nvPr/>
        </p:nvCxnSpPr>
        <p:spPr>
          <a:xfrm flipH="1" flipV="1">
            <a:off x="7482841" y="2959100"/>
            <a:ext cx="706119" cy="8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F7BCA4-0C4E-EA35-4A5F-7031495E0072}"/>
              </a:ext>
            </a:extLst>
          </p:cNvPr>
          <p:cNvCxnSpPr>
            <a:cxnSpLocks/>
          </p:cNvCxnSpPr>
          <p:nvPr/>
        </p:nvCxnSpPr>
        <p:spPr>
          <a:xfrm flipV="1">
            <a:off x="8188960" y="1989902"/>
            <a:ext cx="0" cy="9882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90B2DB5-207D-97BF-1494-5DFC39AC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4393" y="4737094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34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3E16-91A4-DF10-AC0B-8C3E11FD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800" y="1857058"/>
            <a:ext cx="7073553" cy="1409064"/>
          </a:xfrm>
        </p:spPr>
        <p:txBody>
          <a:bodyPr/>
          <a:lstStyle/>
          <a:p>
            <a:pPr algn="ctr"/>
            <a:r>
              <a:rPr lang="en-US" dirty="0"/>
              <a:t>Key Findings </a:t>
            </a:r>
            <a:br>
              <a:rPr lang="en-US" dirty="0"/>
            </a:br>
            <a:r>
              <a:rPr lang="en-US" dirty="0"/>
              <a:t>(</a:t>
            </a:r>
            <a:r>
              <a:rPr lang="en-US" cap="none" dirty="0"/>
              <a:t>Wireshark Evidence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5988D-C3C3-E83F-261F-CE0FF0F1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7019" y="473407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1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031A-D226-0908-E74B-086A4D95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720B-A598-CD29-5ECD-D7FFE06B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21" y="226299"/>
            <a:ext cx="6880157" cy="857250"/>
          </a:xfrm>
        </p:spPr>
        <p:txBody>
          <a:bodyPr/>
          <a:lstStyle/>
          <a:p>
            <a:r>
              <a:rPr lang="en-US" dirty="0"/>
              <a:t>Suspicious Network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3802-1594-AB24-6968-D2FC0507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413511"/>
            <a:ext cx="7321520" cy="3080195"/>
          </a:xfrm>
        </p:spPr>
        <p:txBody>
          <a:bodyPr/>
          <a:lstStyle/>
          <a:p>
            <a:pPr>
              <a:lnSpc>
                <a:spcPct val="50000"/>
              </a:lnSpc>
            </a:pPr>
            <a:r>
              <a:rPr lang="en-US" dirty="0"/>
              <a:t>Internal host → Unfamiliar external IP</a:t>
            </a:r>
          </a:p>
          <a:p>
            <a:pPr marL="3657600" lvl="8" indent="0">
              <a:lnSpc>
                <a:spcPct val="50000"/>
              </a:lnSpc>
              <a:buNone/>
            </a:pPr>
            <a:r>
              <a:rPr lang="en-US" sz="1600" dirty="0"/>
              <a:t>(20.59.87.225)</a:t>
            </a:r>
          </a:p>
          <a:p>
            <a:r>
              <a:rPr lang="en-US" dirty="0"/>
              <a:t>HTTPS traffic (possible C2)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7C5A1-D398-507F-5DE2-AC8F187C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32" y="2499360"/>
            <a:ext cx="5955665" cy="23393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A1ABB-60A3-C5AD-1143-1FADA381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4990" y="4737100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84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F6BB-F262-E5F4-C49D-33CE99C0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6293-AA5A-07AB-46AE-C2144249C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Credential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3DDD-6845-1705-076E-E95BBAA9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6880158" cy="3080195"/>
          </a:xfrm>
        </p:spPr>
        <p:txBody>
          <a:bodyPr/>
          <a:lstStyle/>
          <a:p>
            <a:r>
              <a:rPr lang="en-US" dirty="0"/>
              <a:t>FTP login in cleartext</a:t>
            </a:r>
          </a:p>
          <a:p>
            <a:pPr lvl="1"/>
            <a:r>
              <a:rPr lang="en-US" dirty="0"/>
              <a:t>USER: jane</a:t>
            </a:r>
          </a:p>
          <a:p>
            <a:pPr lvl="1"/>
            <a:r>
              <a:rPr lang="en-US" dirty="0"/>
              <a:t>PASS: pwd2345</a:t>
            </a:r>
          </a:p>
          <a:p>
            <a:r>
              <a:rPr lang="en-US" dirty="0"/>
              <a:t>Confirmed login</a:t>
            </a:r>
          </a:p>
          <a:p>
            <a:pPr lvl="1"/>
            <a:r>
              <a:rPr lang="en-US" dirty="0"/>
              <a:t>230 success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ACB7E-5D0E-FD8C-EBC5-3C078D5D9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957" y="1742201"/>
            <a:ext cx="3865563" cy="300492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1626-F941-5070-CECC-F958FC29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6965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5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A648-1552-11BA-8F27-5C0239FC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9962-3175-05AD-45BA-B5D59058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721" y="226299"/>
            <a:ext cx="6880157" cy="857250"/>
          </a:xfrm>
        </p:spPr>
        <p:txBody>
          <a:bodyPr/>
          <a:lstStyle/>
          <a:p>
            <a:r>
              <a:rPr lang="en-US" dirty="0"/>
              <a:t>File Transfer / Exfiltration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7B449-0F2C-F0BE-2DB8-7B2A3051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6880158" cy="3080195"/>
          </a:xfrm>
        </p:spPr>
        <p:txBody>
          <a:bodyPr/>
          <a:lstStyle/>
          <a:p>
            <a:r>
              <a:rPr lang="en-US" dirty="0"/>
              <a:t>FTP STOR = Upload command</a:t>
            </a:r>
          </a:p>
          <a:p>
            <a:r>
              <a:rPr lang="en-US" dirty="0"/>
              <a:t>Data transfer confirmed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D44A3-7156-BEB2-588D-53F59988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19" y="2424430"/>
            <a:ext cx="6400800" cy="10058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ECFED-5406-CE8E-3E9E-C8DB8691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6067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424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F0FE-7BB9-E6EB-1508-9A5EFF75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3F23-3CBF-5AFB-53A8-1D4C59A8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81" y="226299"/>
            <a:ext cx="6880157" cy="857250"/>
          </a:xfrm>
        </p:spPr>
        <p:txBody>
          <a:bodyPr/>
          <a:lstStyle/>
          <a:p>
            <a:r>
              <a:rPr lang="en-US" dirty="0"/>
              <a:t>Lateral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447BD-286F-72E8-D628-5859ABC28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6880158" cy="3080195"/>
          </a:xfrm>
        </p:spPr>
        <p:txBody>
          <a:bodyPr/>
          <a:lstStyle/>
          <a:p>
            <a:r>
              <a:rPr lang="en-US" dirty="0"/>
              <a:t>Internal spread</a:t>
            </a:r>
          </a:p>
          <a:p>
            <a:pPr lvl="1"/>
            <a:r>
              <a:rPr lang="en-US" dirty="0"/>
              <a:t>10.0.2.4 ↔ 10.0.2.15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F86F6-680F-00F4-5712-28CC828D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70" y="2348865"/>
            <a:ext cx="5096510" cy="20408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2CA3A-8D5E-08DF-BBF6-F92B1C0A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4559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79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5F12-F9DA-EB04-C542-1CF1FE96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Summary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914C668-4E4F-2162-7B26-C5DC42D93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080885"/>
              </p:ext>
            </p:extLst>
          </p:nvPr>
        </p:nvGraphicFramePr>
        <p:xfrm>
          <a:off x="1737361" y="1200150"/>
          <a:ext cx="7203439" cy="3564892"/>
        </p:xfrm>
        <a:graphic>
          <a:graphicData uri="http://schemas.openxmlformats.org/drawingml/2006/table">
            <a:tbl>
              <a:tblPr firstRow="1" firstCol="1" bandRow="1"/>
              <a:tblGrid>
                <a:gridCol w="761804">
                  <a:extLst>
                    <a:ext uri="{9D8B030D-6E8A-4147-A177-3AD203B41FA5}">
                      <a16:colId xmlns:a16="http://schemas.microsoft.com/office/drawing/2014/main" val="201759206"/>
                    </a:ext>
                  </a:extLst>
                </a:gridCol>
                <a:gridCol w="1594464">
                  <a:extLst>
                    <a:ext uri="{9D8B030D-6E8A-4147-A177-3AD203B41FA5}">
                      <a16:colId xmlns:a16="http://schemas.microsoft.com/office/drawing/2014/main" val="664223489"/>
                    </a:ext>
                  </a:extLst>
                </a:gridCol>
                <a:gridCol w="2104696">
                  <a:extLst>
                    <a:ext uri="{9D8B030D-6E8A-4147-A177-3AD203B41FA5}">
                      <a16:colId xmlns:a16="http://schemas.microsoft.com/office/drawing/2014/main" val="2885870172"/>
                    </a:ext>
                  </a:extLst>
                </a:gridCol>
                <a:gridCol w="2742475">
                  <a:extLst>
                    <a:ext uri="{9D8B030D-6E8A-4147-A177-3AD203B41FA5}">
                      <a16:colId xmlns:a16="http://schemas.microsoft.com/office/drawing/2014/main" val="3181242998"/>
                    </a:ext>
                  </a:extLst>
                </a:gridCol>
              </a:tblGrid>
              <a:tr h="6006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Severity</a:t>
                      </a:r>
                      <a:endParaRPr lang="en-US" sz="1400" kern="1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Finding</a:t>
                      </a:r>
                      <a:endParaRPr lang="en-US" sz="1400" kern="1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Evidence</a:t>
                      </a:r>
                      <a:endParaRPr lang="en-US" sz="1400" kern="1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400" kern="1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5817"/>
                  </a:ext>
                </a:extLst>
              </a:tr>
              <a:tr h="509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tx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FTP Authentication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USER jane / PASS pwd2345</a:t>
                      </a: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 visible in TCP stream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Unauthorized access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67882"/>
                  </a:ext>
                </a:extLst>
              </a:tr>
              <a:tr h="509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tx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FTP Login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230 Login successful</a:t>
                      </a: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 response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Gained authenticated access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20710"/>
                  </a:ext>
                </a:extLst>
              </a:tr>
              <a:tr h="509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tx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File Transfer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STOR</a:t>
                      </a: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 command + </a:t>
                      </a:r>
                      <a:r>
                        <a:rPr lang="en-US" sz="1400" i="1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226 Transfer complete</a:t>
                      </a:r>
                      <a:endParaRPr lang="en-US" sz="1400" kern="1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Data exfiltration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849662"/>
                  </a:ext>
                </a:extLst>
              </a:tr>
              <a:tr h="5300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External Traffic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Connection to 20.59.87.225 via TCP 443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Possible external relay or C2 channel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923002"/>
                  </a:ext>
                </a:extLst>
              </a:tr>
              <a:tr h="39619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Lateral Movement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10.0.2.4 accessing 10.0.2.15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Lateral movement and expand 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690192"/>
                  </a:ext>
                </a:extLst>
              </a:tr>
              <a:tr h="509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Use of FTP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Times New Roman" panose="02020603050405020304" pitchFamily="18" charset="0"/>
                        </a:rPr>
                        <a:t>Unencrypted file transfer</a:t>
                      </a: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Credential theft</a:t>
                      </a:r>
                      <a:endParaRPr lang="en-US" sz="140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17465" marR="17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71117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E7BDA-D363-2677-A4E4-4F323FFC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407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14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875F-4E81-B41E-114C-CAB0D52D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041" y="226299"/>
            <a:ext cx="6880157" cy="857250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B304-77EB-C287-21E5-C48B25A5B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7184360" cy="3080195"/>
          </a:xfrm>
        </p:spPr>
        <p:txBody>
          <a:bodyPr>
            <a:normAutofit/>
          </a:bodyPr>
          <a:lstStyle/>
          <a:p>
            <a:r>
              <a:rPr lang="en-US" dirty="0"/>
              <a:t>Network traffic provides visibility into real attacker behavior</a:t>
            </a:r>
          </a:p>
          <a:p>
            <a:r>
              <a:rPr lang="en-US" dirty="0"/>
              <a:t>MITRE ATT&amp;CK helps structure analysis</a:t>
            </a:r>
          </a:p>
          <a:p>
            <a:r>
              <a:rPr lang="en-US" dirty="0"/>
              <a:t>Weak protocols like FTP is a major risk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6EA84-96F2-B702-AC38-E3B3A117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407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5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B771-0A91-C268-5A62-98DFE485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601" y="226299"/>
            <a:ext cx="6880157" cy="85725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4AD61-43D0-5882-6E7E-6A057FC97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7164040" cy="36360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Ransomware follows identifiable patterns</a:t>
            </a:r>
          </a:p>
          <a:p>
            <a:r>
              <a:rPr lang="en-US" dirty="0"/>
              <a:t>Wireshark can expose critical </a:t>
            </a:r>
            <a:r>
              <a:rPr lang="en-US" dirty="0" err="1"/>
              <a:t>IoCs</a:t>
            </a:r>
            <a:endParaRPr lang="en-US" dirty="0"/>
          </a:p>
          <a:p>
            <a:r>
              <a:rPr lang="en-US" dirty="0"/>
              <a:t>MITRE ATT&amp;CK improves structured analysis</a:t>
            </a:r>
          </a:p>
          <a:p>
            <a:r>
              <a:rPr lang="en-US" dirty="0"/>
              <a:t>Healthcare networks need stronger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DBC9-38AD-6417-9128-F618699E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4991" y="473225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2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66AE-27BC-71D8-508E-AF13D073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81" y="226299"/>
            <a:ext cx="6880157" cy="85725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BFE7-1610-D05A-4218-2C5C1C361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7042120" cy="3080195"/>
          </a:xfrm>
        </p:spPr>
        <p:txBody>
          <a:bodyPr/>
          <a:lstStyle/>
          <a:p>
            <a:r>
              <a:rPr lang="en-US" dirty="0"/>
              <a:t>Automate IoC detection</a:t>
            </a:r>
          </a:p>
          <a:p>
            <a:r>
              <a:rPr lang="en-US" dirty="0"/>
              <a:t>Improve monitoring (especially insecure protocols)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6AC9D-7B3E-1EA8-90EF-F5BB1ABC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6618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447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CFCE-70CD-7BE8-6C42-B13402FA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B02B-FE05-C228-E8F8-ECA2490C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81" y="226299"/>
            <a:ext cx="6880157" cy="85725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BAEAB-4671-398A-2869-6EBCA8132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320" y="1200151"/>
            <a:ext cx="7275800" cy="3080195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/>
              <a:t>Sanders, C. (2017). </a:t>
            </a:r>
            <a:r>
              <a:rPr lang="en-US" i="1" dirty="0"/>
              <a:t>Practical packet analysis </a:t>
            </a:r>
            <a:r>
              <a:rPr lang="en-US" dirty="0"/>
              <a:t>(3rd ed.). </a:t>
            </a:r>
          </a:p>
          <a:p>
            <a:pPr lvl="0">
              <a:lnSpc>
                <a:spcPct val="120000"/>
              </a:lnSpc>
            </a:pPr>
            <a:r>
              <a:rPr lang="en-US" dirty="0" err="1"/>
              <a:t>Easttom</a:t>
            </a:r>
            <a:r>
              <a:rPr lang="en-US" dirty="0"/>
              <a:t>, C. (2023). </a:t>
            </a:r>
            <a:r>
              <a:rPr lang="en-US" i="1" dirty="0"/>
              <a:t>Computer Security Fundamentals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US" i="1" dirty="0"/>
              <a:t>      </a:t>
            </a:r>
            <a:r>
              <a:rPr lang="en-US" dirty="0"/>
              <a:t>(5th ed.). Pearson Education. </a:t>
            </a:r>
          </a:p>
          <a:p>
            <a:pPr lvl="0">
              <a:lnSpc>
                <a:spcPct val="120000"/>
              </a:lnSpc>
            </a:pPr>
            <a:r>
              <a:rPr lang="en-US" dirty="0"/>
              <a:t>Center For Strategic and International Studies (CSIS). Significant Cyber Incidents. </a:t>
            </a:r>
            <a:r>
              <a:rPr lang="en-US" u="sng" dirty="0">
                <a:hlinkClick r:id="rId2"/>
              </a:rPr>
              <a:t>https://www.csis.org/programs/strategic-technologies-program/significant-cyber-incidents</a:t>
            </a:r>
            <a:endParaRPr lang="en-US" dirty="0"/>
          </a:p>
          <a:p>
            <a:pPr lvl="0">
              <a:lnSpc>
                <a:spcPct val="120000"/>
              </a:lnSpc>
            </a:pPr>
            <a:r>
              <a:rPr lang="en-US" dirty="0"/>
              <a:t>MITRE ATT&amp;CK. https://attack.mitre.org/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781D0-3A24-79AD-D9F3-4DFE2384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6618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8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E7DD-CB64-73E2-ABB5-BF30B911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03BC-8690-EEF1-DCFA-C95C14B1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900" y="2197418"/>
            <a:ext cx="6097239" cy="911224"/>
          </a:xfrm>
        </p:spPr>
        <p:txBody>
          <a:bodyPr/>
          <a:lstStyle/>
          <a:p>
            <a:pPr algn="ctr"/>
            <a:r>
              <a:rPr lang="en-US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BE718-1D3C-C5E3-905A-7F67BA5C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7094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1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9C8-4F9E-C739-B959-FCBDA25E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361" y="226299"/>
            <a:ext cx="6880157" cy="857250"/>
          </a:xfrm>
        </p:spPr>
        <p:txBody>
          <a:bodyPr/>
          <a:lstStyle/>
          <a:p>
            <a:r>
              <a:rPr lang="en-US" dirty="0"/>
              <a:t>EVALUATE THIS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C403B-C7CD-1E16-597B-9CA8FB07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8360" y="958242"/>
            <a:ext cx="6880158" cy="17473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Presentation ID: 10060</a:t>
            </a:r>
            <a:endParaRPr lang="en-US" b="1" dirty="0"/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400" dirty="0"/>
              <a:t>Scan the QR code to evaluate the presentation,</a:t>
            </a:r>
            <a:br>
              <a:rPr lang="en-US" sz="2400" dirty="0"/>
            </a:br>
            <a:r>
              <a:rPr lang="en-US" sz="2400" dirty="0"/>
              <a:t>or visit: https://bit.ly/sac2026-eval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8BD27-0080-05FE-CC9E-8F52C4D1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01" y="2428463"/>
            <a:ext cx="2560320" cy="256032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AA08A-B205-E11B-F7AE-D43C6005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3407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65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2A77-55A8-6EE9-EC61-ECCCF9B1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43C6-AE96-D2E3-2373-E609EF82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041" y="2187576"/>
            <a:ext cx="6249639" cy="931544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E6C06-8BDC-89A3-AAEC-BFBA942A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6550" y="4728992"/>
            <a:ext cx="870414" cy="273844"/>
          </a:xfrm>
        </p:spPr>
        <p:txBody>
          <a:bodyPr/>
          <a:lstStyle/>
          <a:p>
            <a:fld id="{46B284F5-A660-814B-AF99-F125251820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101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MSUM Colors">
      <a:dk1>
        <a:srgbClr val="000000"/>
      </a:dk1>
      <a:lt1>
        <a:srgbClr val="FFFFFF"/>
      </a:lt1>
      <a:dk2>
        <a:srgbClr val="C8102E"/>
      </a:dk2>
      <a:lt2>
        <a:srgbClr val="DBDBDD"/>
      </a:lt2>
      <a:accent1>
        <a:srgbClr val="666059"/>
      </a:accent1>
      <a:accent2>
        <a:srgbClr val="4E4E4E"/>
      </a:accent2>
      <a:accent3>
        <a:srgbClr val="373737"/>
      </a:accent3>
      <a:accent4>
        <a:srgbClr val="A6A7AA"/>
      </a:accent4>
      <a:accent5>
        <a:srgbClr val="DBDBDD"/>
      </a:accent5>
      <a:accent6>
        <a:srgbClr val="C8102E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UM-PowerPoint-Template-03.pptx" id="{A583B776-5AF8-43EC-82C5-F1313483E383}" vid="{022C6BA2-AB05-4ADD-89E2-E20C7A14E3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1dbc87-1601-4419-952b-1dc8020d9f4b">
      <Terms xmlns="http://schemas.microsoft.com/office/infopath/2007/PartnerControls"/>
    </lcf76f155ced4ddcb4097134ff3c332f>
    <TaxCatchAll xmlns="d2bbb11e-09a4-4a84-b921-281ecf0e119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F4176940C49541AB239745E74D000A" ma:contentTypeVersion="13" ma:contentTypeDescription="Create a new document." ma:contentTypeScope="" ma:versionID="ada6d75194da8881ae6c8bf32707d5dc">
  <xsd:schema xmlns:xsd="http://www.w3.org/2001/XMLSchema" xmlns:xs="http://www.w3.org/2001/XMLSchema" xmlns:p="http://schemas.microsoft.com/office/2006/metadata/properties" xmlns:ns2="d2bbb11e-09a4-4a84-b921-281ecf0e1196" xmlns:ns3="6c1dbc87-1601-4419-952b-1dc8020d9f4b" targetNamespace="http://schemas.microsoft.com/office/2006/metadata/properties" ma:root="true" ma:fieldsID="be7c0b469df3135b38774c962db6cc88" ns2:_="" ns3:_="">
    <xsd:import namespace="d2bbb11e-09a4-4a84-b921-281ecf0e1196"/>
    <xsd:import namespace="6c1dbc87-1601-4419-952b-1dc8020d9f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bb11e-09a4-4a84-b921-281ecf0e119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441dc1d-0b1d-4c6a-a81b-11eaf3d00b70}" ma:internalName="TaxCatchAll" ma:showField="CatchAllData" ma:web="d2bbb11e-09a4-4a84-b921-281ecf0e11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1dbc87-1601-4419-952b-1dc8020d9f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5a9afa-61c7-4e96-8bec-901bd18877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9B5A4D-3E8B-4AA3-9939-C3B4A612C5A4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9886d3d3-63b3-486b-9f48-98ba28871b49"/>
    <ds:schemaRef ds:uri="http://schemas.openxmlformats.org/package/2006/metadata/core-properties"/>
    <ds:schemaRef ds:uri="17102d50-f2be-4148-893a-3d1c6a0af7d6"/>
    <ds:schemaRef ds:uri="6c1dbc87-1601-4419-952b-1dc8020d9f4b"/>
    <ds:schemaRef ds:uri="d2bbb11e-09a4-4a84-b921-281ecf0e1196"/>
  </ds:schemaRefs>
</ds:datastoreItem>
</file>

<file path=customXml/itemProps2.xml><?xml version="1.0" encoding="utf-8"?>
<ds:datastoreItem xmlns:ds="http://schemas.openxmlformats.org/officeDocument/2006/customXml" ds:itemID="{3C8CCE3D-F8D7-4177-8A95-DBEAEEA88A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4AC0BF-C6DB-4132-AD4B-DED352697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bbb11e-09a4-4a84-b921-281ecf0e1196"/>
    <ds:schemaRef ds:uri="6c1dbc87-1601-4419-952b-1dc8020d9f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MSUM-PowerPoint-Template-03</Template>
  <TotalTime>2104</TotalTime>
  <Words>470</Words>
  <Application>Microsoft Office PowerPoint</Application>
  <PresentationFormat>On-screen Show (16:9)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Source Sans Pro</vt:lpstr>
      <vt:lpstr>Calibri</vt:lpstr>
      <vt:lpstr>Source Sans Pro Black</vt:lpstr>
      <vt:lpstr>Arial</vt:lpstr>
      <vt:lpstr>Default Theme</vt:lpstr>
      <vt:lpstr> Network Traffic Analysis of Ransomware Activity in the Healthcare Sector Using Wireshark and MITRE ATT&amp;CK </vt:lpstr>
      <vt:lpstr>Problem &amp; Motivation</vt:lpstr>
      <vt:lpstr>Objective of Study </vt:lpstr>
      <vt:lpstr>Dataset &amp; Methodology</vt:lpstr>
      <vt:lpstr>MITRE ATT&amp;CK Overview</vt:lpstr>
      <vt:lpstr>Attack Scenario</vt:lpstr>
      <vt:lpstr>Key Findings  (Wireshark Evidence)</vt:lpstr>
      <vt:lpstr>Suspicious Network Activity</vt:lpstr>
      <vt:lpstr>Credential Exposure</vt:lpstr>
      <vt:lpstr>File Transfer / Exfiltration</vt:lpstr>
      <vt:lpstr>Lateral Movement</vt:lpstr>
      <vt:lpstr>Summary Table</vt:lpstr>
      <vt:lpstr>Key Takeaways</vt:lpstr>
      <vt:lpstr>Conclusion</vt:lpstr>
      <vt:lpstr>Future Work</vt:lpstr>
      <vt:lpstr>References</vt:lpstr>
      <vt:lpstr>Q&amp;A</vt:lpstr>
      <vt:lpstr>EVALUATE THIS PRESENTATION</vt:lpstr>
      <vt:lpstr>Thank you!</vt:lpstr>
    </vt:vector>
  </TitlesOfParts>
  <Company>Minnesota State University Moorhead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Stegmaier, Amanda J</dc:creator>
  <cp:lastModifiedBy>Hashan Kodippilige</cp:lastModifiedBy>
  <cp:revision>14</cp:revision>
  <dcterms:created xsi:type="dcterms:W3CDTF">2026-02-06T22:32:38Z</dcterms:created>
  <dcterms:modified xsi:type="dcterms:W3CDTF">2026-04-21T17:25:46Z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0x010100DFF4176940C49541AB239745E74D000A</vt:lpwstr>
  </property>
  <property fmtid="{D5CDD505-2E9C-101B-9397-08002B2CF9AE}" pid="3" name="Order">
    <vt:r8>7800200</vt:r8>
  </property>
  <property fmtid="{D5CDD505-2E9C-101B-9397-08002B2CF9AE}" pid="4" name="MediaServiceImageTags">
    <vt:lpwstr/>
  </property>
</Properties>
</file>